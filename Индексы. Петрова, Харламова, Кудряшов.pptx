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70" r:id="rId10"/>
    <p:sldId id="266" r:id="rId11"/>
    <p:sldId id="271" r:id="rId12"/>
    <p:sldId id="272" r:id="rId13"/>
    <p:sldId id="269" r:id="rId14"/>
    <p:sldId id="273" r:id="rId15"/>
    <p:sldId id="274" r:id="rId1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03"/>
    <p:restoredTop sz="94610"/>
  </p:normalViewPr>
  <p:slideViewPr>
    <p:cSldViewPr snapToGrid="0" snapToObjects="1">
      <p:cViewPr>
        <p:scale>
          <a:sx n="90" d="100"/>
          <a:sy n="90" d="100"/>
        </p:scale>
        <p:origin x="122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ru-RU" sz="1800" b="0" i="0" u="none" strike="noStrike">
                <a:solidFill>
                  <a:srgbClr val="000000"/>
                </a:solidFill>
                <a:latin typeface="Arial"/>
              </a:rPr>
              <a:t>Размер индекса, МБ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Размер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Обычный</c:v>
                </c:pt>
                <c:pt idx="1">
                  <c:v>Gamma</c:v>
                </c:pt>
                <c:pt idx="2">
                  <c:v>Delta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51.170400000000001</c:v>
                </c:pt>
                <c:pt idx="1">
                  <c:v>10.758599999999999</c:v>
                </c:pt>
                <c:pt idx="2">
                  <c:v>10.290800000000001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36-1648-9A36-5BA886770B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ru-RU" sz="1800" b="0" i="0" u="none" strike="noStrike">
                <a:solidFill>
                  <a:srgbClr val="000000"/>
                </a:solidFill>
                <a:latin typeface="Arial"/>
              </a:rPr>
              <a:t>Размер индекса, МБ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Размер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Обычный</c:v>
                </c:pt>
                <c:pt idx="1">
                  <c:v>Gamma</c:v>
                </c:pt>
                <c:pt idx="2">
                  <c:v>Delta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57.011899999999997</c:v>
                </c:pt>
                <c:pt idx="1">
                  <c:v>11.318099999999999</c:v>
                </c:pt>
                <c:pt idx="2">
                  <c:v>10.8729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36-1648-9A36-5BA886770B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59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9CF7A-E5AB-245B-150C-80E5E4BBE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B3DA4-55F6-E06E-AB56-3472C9E59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3F494-F513-3317-6E65-968C78CB7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1C4FA-9167-FE32-4966-4777B887A6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8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B5959-1E29-21E4-7388-6AAA3AC3A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983AE-2088-9FD9-1C08-39396376D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7EE3E-90F6-865C-86F8-8ED1D3457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9F164-9CC0-C8D2-D272-685BA32AE1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39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0B571-9645-6CA7-084B-B79C89F5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384D0-6BA0-77CE-46BE-35574C69F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62E0A-6970-396D-3169-F0AD07E21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9BB3C-3302-C69A-11A9-FFFD2507B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702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7BC8-EFCE-BC5C-32E8-792005724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FB6BB-5829-4DE0-D7A1-0927ECF6B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1F7A7-BC2B-1338-4214-C31CC4C6C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ABF2-B13E-B331-43CC-A4FE58F40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27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872A-3E48-1569-333E-78F032BC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EED67-749C-548D-F380-1F5FFA7EE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D0432-DAB8-C284-AF2C-5655783C5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080D9-0814-4CD5-79A6-57F5FB3EF0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9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5/25/26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336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167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578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062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924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035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071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468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407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326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549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0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5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32588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Инвертированный индекс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ru-RU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гамма- и дельта-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кодированием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Элиаса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dirty="0">
                <a:solidFill>
                  <a:srgbClr val="C5D0E1"/>
                </a:solidFill>
              </a:rPr>
              <a:t>Петрова Екатерина – разработчик, 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C5D0E1"/>
                </a:solidFill>
              </a:rPr>
              <a:t>Харламова Анастасия – тестировщик, 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C5D0E1"/>
                </a:solidFill>
              </a:rPr>
              <a:t>Кудряшов Даниил – менеджер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Задачи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1143000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1143000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89888"/>
            <a:ext cx="33375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172033"/>
                </a:solidFill>
              </a:rPr>
              <a:t>Индекс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82980" y="2537460"/>
            <a:ext cx="274320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/>
            <a:r>
              <a:rPr lang="en-US" dirty="0" err="1">
                <a:solidFill>
                  <a:srgbClr val="172033"/>
                </a:solidFill>
              </a:rPr>
              <a:t>построить</a:t>
            </a:r>
            <a:r>
              <a:rPr lang="en-US" dirty="0">
                <a:solidFill>
                  <a:srgbClr val="172033"/>
                </a:solidFill>
              </a:rPr>
              <a:t> </a:t>
            </a:r>
            <a:r>
              <a:rPr lang="en-US" dirty="0" err="1">
                <a:solidFill>
                  <a:srgbClr val="172033"/>
                </a:solidFill>
              </a:rPr>
              <a:t>инвертированный</a:t>
            </a:r>
            <a:r>
              <a:rPr lang="ru-RU" dirty="0">
                <a:solidFill>
                  <a:srgbClr val="172033"/>
                </a:solidFill>
              </a:rPr>
              <a:t> </a:t>
            </a:r>
            <a:r>
              <a:rPr lang="en-US" dirty="0" err="1">
                <a:solidFill>
                  <a:srgbClr val="172033"/>
                </a:solidFill>
              </a:rPr>
              <a:t>индекс</a:t>
            </a:r>
            <a:endParaRPr lang="ru-RU" dirty="0">
              <a:solidFill>
                <a:srgbClr val="172033"/>
              </a:solidFill>
            </a:endParaRP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172033"/>
                </a:solidFill>
              </a:rPr>
              <a:t>сформировать postings lists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24400" y="2537460"/>
            <a:ext cx="274320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172033"/>
                </a:solidFill>
              </a:rPr>
              <a:t>заменить doc_id </a:t>
            </a:r>
            <a:r>
              <a:rPr lang="en-US" sz="2000" dirty="0" err="1">
                <a:solidFill>
                  <a:srgbClr val="172033"/>
                </a:solidFill>
              </a:rPr>
              <a:t>на</a:t>
            </a:r>
            <a:r>
              <a:rPr lang="en-US" sz="2000" dirty="0">
                <a:solidFill>
                  <a:srgbClr val="172033"/>
                </a:solidFill>
              </a:rPr>
              <a:t> gap-</a:t>
            </a:r>
            <a:r>
              <a:rPr lang="en-US" sz="2000" dirty="0" err="1">
                <a:solidFill>
                  <a:srgbClr val="172033"/>
                </a:solidFill>
              </a:rPr>
              <a:t>значения</a:t>
            </a:r>
            <a:endParaRPr lang="ru-RU" sz="2000" dirty="0">
              <a:solidFill>
                <a:srgbClr val="172033"/>
              </a:solidFill>
            </a:endParaRPr>
          </a:p>
          <a:p>
            <a:pPr algn="ctr"/>
            <a:endParaRPr lang="en-US" sz="2000" dirty="0"/>
          </a:p>
          <a:p>
            <a:pPr algn="ctr"/>
            <a:r>
              <a:rPr lang="en-US" sz="2000" dirty="0" err="1">
                <a:solidFill>
                  <a:srgbClr val="172033"/>
                </a:solidFill>
              </a:rPr>
              <a:t>закодировать</a:t>
            </a:r>
            <a:r>
              <a:rPr lang="en-US" sz="2000" dirty="0">
                <a:solidFill>
                  <a:srgbClr val="172033"/>
                </a:solidFill>
              </a:rPr>
              <a:t> </a:t>
            </a:r>
            <a:r>
              <a:rPr lang="ru-RU" sz="2000" dirty="0">
                <a:solidFill>
                  <a:srgbClr val="172033"/>
                </a:solidFill>
              </a:rPr>
              <a:t>Гамма</a:t>
            </a:r>
            <a:r>
              <a:rPr lang="en-US" sz="2000" dirty="0">
                <a:solidFill>
                  <a:srgbClr val="172033"/>
                </a:solidFill>
              </a:rPr>
              <a:t> </a:t>
            </a:r>
            <a:r>
              <a:rPr lang="en-US" sz="2000" dirty="0" err="1">
                <a:solidFill>
                  <a:srgbClr val="172033"/>
                </a:solidFill>
              </a:rPr>
              <a:t>и</a:t>
            </a:r>
            <a:r>
              <a:rPr lang="en-US" sz="2000" dirty="0">
                <a:solidFill>
                  <a:srgbClr val="172033"/>
                </a:solidFill>
              </a:rPr>
              <a:t> </a:t>
            </a:r>
            <a:r>
              <a:rPr lang="ru-RU" sz="2000" dirty="0">
                <a:solidFill>
                  <a:srgbClr val="172033"/>
                </a:solidFill>
              </a:rPr>
              <a:t>Дельта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>
                <a:solidFill>
                  <a:srgbClr val="172033"/>
                </a:solidFill>
              </a:rPr>
              <a:t>сравнить размеры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83880" y="1389888"/>
            <a:ext cx="3322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Тестирование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66760" y="2537460"/>
            <a:ext cx="274320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172033"/>
                </a:solidFill>
              </a:rPr>
              <a:t>проверить </a:t>
            </a:r>
            <a:r>
              <a:rPr lang="en-US" sz="2000" dirty="0" err="1">
                <a:solidFill>
                  <a:srgbClr val="172033"/>
                </a:solidFill>
              </a:rPr>
              <a:t>восстановление</a:t>
            </a:r>
            <a:r>
              <a:rPr lang="en-US" sz="2000" dirty="0">
                <a:solidFill>
                  <a:srgbClr val="172033"/>
                </a:solidFill>
              </a:rPr>
              <a:t> </a:t>
            </a:r>
            <a:r>
              <a:rPr lang="en-US" sz="2000" dirty="0" err="1">
                <a:solidFill>
                  <a:srgbClr val="172033"/>
                </a:solidFill>
              </a:rPr>
              <a:t>списков</a:t>
            </a:r>
            <a:endParaRPr lang="ru-RU" sz="2000" dirty="0">
              <a:solidFill>
                <a:srgbClr val="172033"/>
              </a:solidFill>
            </a:endParaRPr>
          </a:p>
          <a:p>
            <a:pPr algn="ctr"/>
            <a:endParaRPr lang="en-US" sz="2000" dirty="0"/>
          </a:p>
          <a:p>
            <a:pPr algn="ctr"/>
            <a:r>
              <a:rPr lang="en-US" sz="2000" dirty="0">
                <a:solidFill>
                  <a:srgbClr val="172033"/>
                </a:solidFill>
              </a:rPr>
              <a:t>сравнить </a:t>
            </a:r>
            <a:r>
              <a:rPr lang="en-US" sz="2000" dirty="0" err="1">
                <a:solidFill>
                  <a:srgbClr val="172033"/>
                </a:solidFill>
              </a:rPr>
              <a:t>выдачу</a:t>
            </a:r>
            <a:r>
              <a:rPr lang="en-US" sz="2000" dirty="0">
                <a:solidFill>
                  <a:srgbClr val="172033"/>
                </a:solidFill>
              </a:rPr>
              <a:t> </a:t>
            </a:r>
            <a:r>
              <a:rPr lang="en-US" sz="2000" dirty="0" err="1">
                <a:solidFill>
                  <a:srgbClr val="172033"/>
                </a:solidFill>
              </a:rPr>
              <a:t>поиска</a:t>
            </a:r>
            <a:endParaRPr lang="ru-RU" sz="2000" dirty="0">
              <a:solidFill>
                <a:srgbClr val="172033"/>
              </a:solidFill>
            </a:endParaRPr>
          </a:p>
          <a:p>
            <a:pPr algn="ctr"/>
            <a:endParaRPr lang="en-US" sz="2000" dirty="0"/>
          </a:p>
          <a:p>
            <a:pPr algn="ctr"/>
            <a:r>
              <a:rPr lang="en-US" sz="2000" dirty="0">
                <a:solidFill>
                  <a:srgbClr val="172033"/>
                </a:solidFill>
              </a:rPr>
              <a:t>измерить скорость и память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100" b="0"/>
              <a:t>2</a:t>
            </a:fld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434840" y="1389888"/>
            <a:ext cx="33375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Сжатие Элиаса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Исходные данные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476220"/>
              </p:ext>
            </p:extLst>
          </p:nvPr>
        </p:nvGraphicFramePr>
        <p:xfrm>
          <a:off x="1001328" y="2048256"/>
          <a:ext cx="4709160" cy="276148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Метрика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Значение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Количество документов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20 246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Количество уникальных терминов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417 006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Общее количество терминов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13 414 000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100" b="0"/>
              <a:t>3</a:t>
            </a:fld>
            <a:endParaRPr lang="en-US" sz="110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154A37B5-9BC3-2DD7-DA43-ED2E81A22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593835"/>
              </p:ext>
            </p:extLst>
          </p:nvPr>
        </p:nvGraphicFramePr>
        <p:xfrm>
          <a:off x="6291212" y="2048256"/>
          <a:ext cx="4709160" cy="276148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Метрика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Значение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Количество документов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20 246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Количество уникальных терминов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419 429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Общее количество терминов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14 945 337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8DFB5A2-E7AD-3DBB-1751-D92450AEE7EC}"/>
              </a:ext>
            </a:extLst>
          </p:cNvPr>
          <p:cNvSpPr txBox="1"/>
          <p:nvPr/>
        </p:nvSpPr>
        <p:spPr>
          <a:xfrm>
            <a:off x="6569744" y="1678924"/>
            <a:ext cx="610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72033"/>
                </a:solidFill>
              </a:rPr>
              <a:t>с короткими токенами и стоп-словами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0B8B8-B2B8-E615-C48A-59A4239C1D02}"/>
              </a:ext>
            </a:extLst>
          </p:cNvPr>
          <p:cNvSpPr txBox="1"/>
          <p:nvPr/>
        </p:nvSpPr>
        <p:spPr>
          <a:xfrm>
            <a:off x="1452312" y="1697212"/>
            <a:ext cx="610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72033"/>
                </a:solidFill>
              </a:rPr>
              <a:t>без коротких токенов и стоп-слов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Предобработка текста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52798BD-C31C-CF06-D739-533FBBD78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861148"/>
              </p:ext>
            </p:extLst>
          </p:nvPr>
        </p:nvGraphicFramePr>
        <p:xfrm>
          <a:off x="2286000" y="2000250"/>
          <a:ext cx="7406640" cy="2857500"/>
        </p:xfrm>
        <a:graphic>
          <a:graphicData uri="http://schemas.openxmlformats.org/drawingml/2006/table">
            <a:tbl>
              <a:tblPr/>
              <a:tblGrid>
                <a:gridCol w="7406640">
                  <a:extLst>
                    <a:ext uri="{9D8B030D-6E8A-4147-A177-3AD203B41FA5}">
                      <a16:colId xmlns:a16="http://schemas.microsoft.com/office/drawing/2014/main" val="3490454550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приведение к нижнему регистру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96635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разбиение на токены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3876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strike="sngStrike" dirty="0" err="1">
                          <a:solidFill>
                            <a:srgbClr val="172033"/>
                          </a:solidFill>
                        </a:rPr>
                        <a:t>удаление</a:t>
                      </a:r>
                      <a:r>
                        <a:rPr lang="en-US" sz="1800" strike="sngStrike" dirty="0">
                          <a:solidFill>
                            <a:srgbClr val="172033"/>
                          </a:solidFill>
                        </a:rPr>
                        <a:t> </a:t>
                      </a:r>
                      <a:r>
                        <a:rPr lang="en-US" sz="1800" strike="sngStrike" dirty="0" err="1">
                          <a:solidFill>
                            <a:srgbClr val="172033"/>
                          </a:solidFill>
                        </a:rPr>
                        <a:t>коротких</a:t>
                      </a:r>
                      <a:r>
                        <a:rPr lang="en-US" sz="1800" strike="sngStrike" dirty="0">
                          <a:solidFill>
                            <a:srgbClr val="172033"/>
                          </a:solidFill>
                        </a:rPr>
                        <a:t> </a:t>
                      </a:r>
                      <a:r>
                        <a:rPr lang="en-US" sz="1800" strike="sngStrike" dirty="0" err="1">
                          <a:solidFill>
                            <a:srgbClr val="172033"/>
                          </a:solidFill>
                        </a:rPr>
                        <a:t>токенов</a:t>
                      </a:r>
                      <a:endParaRPr lang="en-US" sz="1800" strike="sngStrike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5354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strike="sngStrike" dirty="0" err="1">
                          <a:solidFill>
                            <a:srgbClr val="172033"/>
                          </a:solidFill>
                        </a:rPr>
                        <a:t>удаление</a:t>
                      </a:r>
                      <a:r>
                        <a:rPr lang="en-US" sz="1800" strike="sngStrike" dirty="0">
                          <a:solidFill>
                            <a:srgbClr val="172033"/>
                          </a:solidFill>
                        </a:rPr>
                        <a:t> </a:t>
                      </a:r>
                      <a:r>
                        <a:rPr lang="en-US" sz="1800" strike="sngStrike" dirty="0" err="1">
                          <a:solidFill>
                            <a:srgbClr val="172033"/>
                          </a:solidFill>
                        </a:rPr>
                        <a:t>частых</a:t>
                      </a:r>
                      <a:r>
                        <a:rPr lang="en-US" sz="1800" strike="sngStrike" dirty="0">
                          <a:solidFill>
                            <a:srgbClr val="172033"/>
                          </a:solidFill>
                        </a:rPr>
                        <a:t> </a:t>
                      </a:r>
                      <a:r>
                        <a:rPr lang="en-US" sz="1800" strike="sngStrike" dirty="0" err="1">
                          <a:solidFill>
                            <a:srgbClr val="172033"/>
                          </a:solidFill>
                        </a:rPr>
                        <a:t>служебных</a:t>
                      </a:r>
                      <a:r>
                        <a:rPr lang="en-US" sz="1800" strike="sngStrike" dirty="0">
                          <a:solidFill>
                            <a:srgbClr val="172033"/>
                          </a:solidFill>
                        </a:rPr>
                        <a:t> </a:t>
                      </a:r>
                      <a:r>
                        <a:rPr lang="en-US" sz="1800" strike="sngStrike" dirty="0" err="1">
                          <a:solidFill>
                            <a:srgbClr val="172033"/>
                          </a:solidFill>
                        </a:rPr>
                        <a:t>слов</a:t>
                      </a:r>
                      <a:endParaRPr lang="en-US" sz="1800" strike="sngStrike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39937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нормальная форма слова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693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Построение инвертированного индекса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50" b="0"/>
              <a:t>5</a:t>
            </a:fld>
            <a:endParaRPr lang="en-US" sz="105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88818F32-FB10-5234-CB22-62BD32774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469612"/>
              </p:ext>
            </p:extLst>
          </p:nvPr>
        </p:nvGraphicFramePr>
        <p:xfrm>
          <a:off x="1143000" y="1825625"/>
          <a:ext cx="9915526" cy="2779776"/>
        </p:xfrm>
        <a:graphic>
          <a:graphicData uri="http://schemas.openxmlformats.org/drawingml/2006/table">
            <a:tbl>
              <a:tblPr/>
              <a:tblGrid>
                <a:gridCol w="1757182">
                  <a:extLst>
                    <a:ext uri="{9D8B030D-6E8A-4147-A177-3AD203B41FA5}">
                      <a16:colId xmlns:a16="http://schemas.microsoft.com/office/drawing/2014/main" val="3469610142"/>
                    </a:ext>
                  </a:extLst>
                </a:gridCol>
                <a:gridCol w="4183766">
                  <a:extLst>
                    <a:ext uri="{9D8B030D-6E8A-4147-A177-3AD203B41FA5}">
                      <a16:colId xmlns:a16="http://schemas.microsoft.com/office/drawing/2014/main" val="1513244888"/>
                    </a:ext>
                  </a:extLst>
                </a:gridCol>
                <a:gridCol w="3974578">
                  <a:extLst>
                    <a:ext uri="{9D8B030D-6E8A-4147-A177-3AD203B41FA5}">
                      <a16:colId xmlns:a16="http://schemas.microsoft.com/office/drawing/2014/main" val="60753664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Чтение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документа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проход по строкам датафрейма df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получен doc_id и текст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5202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Предобработка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токенизация, стоп-слова, лемматизация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получен набор терминов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54593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Добавление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в индекс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для каждого </a:t>
                      </a: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термина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</a:t>
                      </a: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– список </a:t>
                      </a: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doc_id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формируется postings list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4809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Сортировка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множества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</a:t>
                      </a: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– </a:t>
                      </a: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в</a:t>
                      </a: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 отсортированные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списки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списки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документов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3497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77215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Реализация поиска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38200" y="1491615"/>
            <a:ext cx="27432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4400" y="1491615"/>
            <a:ext cx="27432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10600" y="1491615"/>
            <a:ext cx="27432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8240" y="1857375"/>
            <a:ext cx="2103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033"/>
                </a:solidFill>
              </a:rPr>
              <a:t>Запрос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35380" y="2814637"/>
            <a:ext cx="21031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085"/>
                </a:solidFill>
              </a:rPr>
              <a:t>проходит lowercase, токенизацию, фильтрацию и лемматизацию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53000" y="1857375"/>
            <a:ext cx="22860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033"/>
                </a:solidFill>
              </a:rPr>
              <a:t>Postings lists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90160" y="2997517"/>
            <a:ext cx="20116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085"/>
                </a:solidFill>
              </a:rPr>
              <a:t>для каждого термина извлекается список doc_id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22080" y="1857375"/>
            <a:ext cx="19202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033"/>
                </a:solidFill>
              </a:rPr>
              <a:t>Результат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907780" y="2726055"/>
            <a:ext cx="21488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085"/>
                </a:solidFill>
              </a:rPr>
              <a:t>документ попадает в выдачу, только если содержит все термины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01440" y="2680335"/>
            <a:ext cx="502920" cy="502920"/>
          </a:xfrm>
          <a:prstGeom prst="chevron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87640" y="2680335"/>
            <a:ext cx="502920" cy="502920"/>
          </a:xfrm>
          <a:prstGeom prst="chevron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676263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100" b="0"/>
              <a:t>6</a:t>
            </a:fld>
            <a:endParaRPr lang="en-US" sz="110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69A4104-FBAE-C3AF-0B2D-C1B8F90CD94F}"/>
              </a:ext>
            </a:extLst>
          </p:cNvPr>
          <p:cNvSpPr/>
          <p:nvPr/>
        </p:nvSpPr>
        <p:spPr>
          <a:xfrm>
            <a:off x="8107680" y="2680335"/>
            <a:ext cx="502920" cy="502920"/>
          </a:xfrm>
          <a:prstGeom prst="chevron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A337C263-AFD6-9190-BE09-C80C15D3CAE6}"/>
              </a:ext>
            </a:extLst>
          </p:cNvPr>
          <p:cNvSpPr/>
          <p:nvPr/>
        </p:nvSpPr>
        <p:spPr>
          <a:xfrm>
            <a:off x="4251007" y="2680335"/>
            <a:ext cx="502920" cy="502920"/>
          </a:xfrm>
          <a:prstGeom prst="chevron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CFCAFAEE-E6F5-0218-7EE0-95433886B905}"/>
              </a:ext>
            </a:extLst>
          </p:cNvPr>
          <p:cNvSpPr/>
          <p:nvPr/>
        </p:nvSpPr>
        <p:spPr>
          <a:xfrm>
            <a:off x="3208973" y="2654617"/>
            <a:ext cx="502920" cy="502920"/>
          </a:xfrm>
          <a:prstGeom prst="chevron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2FBA8E45-B17B-6575-55D4-855F00A9BC8D}"/>
              </a:ext>
            </a:extLst>
          </p:cNvPr>
          <p:cNvSpPr/>
          <p:nvPr/>
        </p:nvSpPr>
        <p:spPr>
          <a:xfrm>
            <a:off x="3558540" y="2654617"/>
            <a:ext cx="502920" cy="502920"/>
          </a:xfrm>
          <a:prstGeom prst="chevron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4A94A300-3E4A-3BA2-AE2B-E60E6F5F7433}"/>
              </a:ext>
            </a:extLst>
          </p:cNvPr>
          <p:cNvSpPr/>
          <p:nvPr/>
        </p:nvSpPr>
        <p:spPr>
          <a:xfrm>
            <a:off x="7098983" y="2680335"/>
            <a:ext cx="502920" cy="502920"/>
          </a:xfrm>
          <a:prstGeom prst="chevron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556FF2A6-20D5-A9C5-A9EF-7B2AE1FF1624}"/>
              </a:ext>
            </a:extLst>
          </p:cNvPr>
          <p:cNvSpPr/>
          <p:nvPr/>
        </p:nvSpPr>
        <p:spPr>
          <a:xfrm>
            <a:off x="7448550" y="2680335"/>
            <a:ext cx="502920" cy="502920"/>
          </a:xfrm>
          <a:prstGeom prst="chevron">
            <a:avLst/>
          </a:prstGeom>
          <a:solidFill>
            <a:srgbClr val="002060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Формулы оценки размера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335632"/>
              </p:ext>
            </p:extLst>
          </p:nvPr>
        </p:nvGraphicFramePr>
        <p:xfrm>
          <a:off x="960120" y="2523744"/>
          <a:ext cx="10424160" cy="18105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72033"/>
                          </a:solidFill>
                        </a:rPr>
                        <a:t>Без сжатия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72033"/>
                          </a:solidFill>
                        </a:rPr>
                        <a:t>size = N × 32 </a:t>
                      </a: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(</a:t>
                      </a:r>
                      <a:r>
                        <a:rPr lang="en-US" sz="2000" dirty="0" err="1">
                          <a:solidFill>
                            <a:srgbClr val="172033"/>
                          </a:solidFill>
                        </a:rPr>
                        <a:t>бит</a:t>
                      </a: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)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Гамма </a:t>
                      </a:r>
                      <a:r>
                        <a:rPr lang="ru-RU" sz="2000" b="0" dirty="0">
                          <a:solidFill>
                            <a:srgbClr val="172033"/>
                          </a:solidFill>
                        </a:rPr>
                        <a:t>(</a:t>
                      </a:r>
                      <a:r>
                        <a:rPr lang="en-US" sz="2000" b="0" dirty="0" err="1">
                          <a:solidFill>
                            <a:srgbClr val="172033"/>
                          </a:solidFill>
                        </a:rPr>
                        <a:t>Элиас</a:t>
                      </a:r>
                      <a:r>
                        <a:rPr lang="ru-RU" sz="2000" b="0" dirty="0">
                          <a:solidFill>
                            <a:srgbClr val="172033"/>
                          </a:solidFill>
                        </a:rPr>
                        <a:t>)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72033"/>
                          </a:solidFill>
                        </a:rPr>
                        <a:t>γ(n) = 2⌊log₂ n⌋ + 1 </a:t>
                      </a: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(бит)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Дельта </a:t>
                      </a:r>
                      <a:r>
                        <a:rPr lang="ru-RU" sz="2000" b="0" dirty="0">
                          <a:solidFill>
                            <a:srgbClr val="172033"/>
                          </a:solidFill>
                        </a:rPr>
                        <a:t>(</a:t>
                      </a:r>
                      <a:r>
                        <a:rPr lang="en-US" sz="2000" b="0" dirty="0" err="1">
                          <a:solidFill>
                            <a:srgbClr val="172033"/>
                          </a:solidFill>
                        </a:rPr>
                        <a:t>Элиас</a:t>
                      </a:r>
                      <a:r>
                        <a:rPr lang="ru-RU" sz="2000" b="0" dirty="0">
                          <a:solidFill>
                            <a:srgbClr val="172033"/>
                          </a:solidFill>
                        </a:rPr>
                        <a:t>)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72033"/>
                          </a:solidFill>
                        </a:rPr>
                        <a:t>δ(n) = </a:t>
                      </a:r>
                      <a:r>
                        <a:rPr lang="en-US" sz="2000" dirty="0" err="1">
                          <a:solidFill>
                            <a:srgbClr val="172033"/>
                          </a:solidFill>
                        </a:rPr>
                        <a:t>γ</a:t>
                      </a:r>
                      <a:r>
                        <a:rPr lang="en-US" sz="2000" dirty="0">
                          <a:solidFill>
                            <a:srgbClr val="172033"/>
                          </a:solidFill>
                        </a:rPr>
                        <a:t>(⌊log₂ n⌋ + 1) + (⌊log₂ n⌋ + 1) − 1</a:t>
                      </a: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 (бит)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Результаты </a:t>
            </a:r>
            <a:r>
              <a:rPr lang="en-US" sz="2700" b="1" dirty="0" err="1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измерения</a:t>
            </a:r>
            <a:r>
              <a:rPr lang="en-US" sz="27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700" b="1" dirty="0" err="1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размера</a:t>
            </a:r>
            <a:r>
              <a:rPr lang="ru-RU" sz="27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без стоп-слов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417153"/>
              </p:ext>
            </p:extLst>
          </p:nvPr>
        </p:nvGraphicFramePr>
        <p:xfrm>
          <a:off x="800100" y="1796796"/>
          <a:ext cx="4434840" cy="3264408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Обычный индекс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51</a:t>
                      </a: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,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1704 МБ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Гамма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10</a:t>
                      </a: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,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7586 МБ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Дельта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10</a:t>
                      </a: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,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2908 МБ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Коэффициент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</a:t>
                      </a:r>
                      <a:endParaRPr lang="ru-RU" sz="1800" dirty="0">
                        <a:solidFill>
                          <a:srgbClr val="172033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сжатия у Гамма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4</a:t>
                      </a: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,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76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Коэффициент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</a:t>
                      </a:r>
                      <a:endParaRPr lang="ru-RU" sz="1800" dirty="0">
                        <a:solidFill>
                          <a:srgbClr val="172033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сжатия у Дельта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4</a:t>
                      </a: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,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97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762307153"/>
              </p:ext>
            </p:extLst>
          </p:nvPr>
        </p:nvGraphicFramePr>
        <p:xfrm>
          <a:off x="5697855" y="1477328"/>
          <a:ext cx="5257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75A844-AB57-2E51-6960-C83DB675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438382-9C4C-1232-D99B-821DE7E460FD}"/>
              </a:ext>
            </a:extLst>
          </p:cNvPr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Результаты </a:t>
            </a:r>
            <a:r>
              <a:rPr lang="en-US" sz="2700" b="1" dirty="0" err="1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измерения</a:t>
            </a:r>
            <a:r>
              <a:rPr lang="en-US" sz="27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700" b="1" dirty="0" err="1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размера</a:t>
            </a:r>
            <a:r>
              <a:rPr lang="en-US" sz="27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ru-RU" sz="27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 стоп-словами</a:t>
            </a:r>
            <a:endParaRPr lang="en-US" sz="27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DB2E5FBD-19A7-19BC-AFC8-1BDABAE08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96037"/>
              </p:ext>
            </p:extLst>
          </p:nvPr>
        </p:nvGraphicFramePr>
        <p:xfrm>
          <a:off x="800100" y="1796796"/>
          <a:ext cx="4434840" cy="3264408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Обычный индекс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5</a:t>
                      </a: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7,0119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МБ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Гамма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11,3181 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МБ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Дельта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10,8729 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МБ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Коэффициент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</a:t>
                      </a:r>
                      <a:endParaRPr lang="ru-RU" sz="1800" dirty="0">
                        <a:solidFill>
                          <a:srgbClr val="172033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сжатия у Гамма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5,04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rgbClr val="172033"/>
                          </a:solidFill>
                        </a:rPr>
                        <a:t>Коэффициент</a:t>
                      </a:r>
                      <a:r>
                        <a:rPr lang="en-US" sz="1800" dirty="0">
                          <a:solidFill>
                            <a:srgbClr val="172033"/>
                          </a:solidFill>
                        </a:rPr>
                        <a:t> </a:t>
                      </a:r>
                      <a:endParaRPr lang="ru-RU" sz="1800" dirty="0">
                        <a:solidFill>
                          <a:srgbClr val="172033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сжатия у Дельта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800" dirty="0">
                          <a:solidFill>
                            <a:srgbClr val="172033"/>
                          </a:solidFill>
                        </a:rPr>
                        <a:t>5,24</a:t>
                      </a:r>
                      <a:endParaRPr lang="en-US" sz="18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76F07236-2B46-C300-E50D-BFEEDD37C7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855065"/>
              </p:ext>
            </p:extLst>
          </p:nvPr>
        </p:nvGraphicFramePr>
        <p:xfrm>
          <a:off x="5697855" y="1477328"/>
          <a:ext cx="5257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515249F-7356-7494-8778-569EA36743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5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Время</a:t>
            </a:r>
            <a:r>
              <a:rPr lang="en-US" sz="3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индексирования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6865E78A-2FD1-93C4-A7A6-DE589B8E0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047940"/>
              </p:ext>
            </p:extLst>
          </p:nvPr>
        </p:nvGraphicFramePr>
        <p:xfrm>
          <a:off x="2123789" y="2409444"/>
          <a:ext cx="7944422" cy="2286000"/>
        </p:xfrm>
        <a:graphic>
          <a:graphicData uri="http://schemas.openxmlformats.org/drawingml/2006/table">
            <a:tbl>
              <a:tblPr/>
              <a:tblGrid>
                <a:gridCol w="4881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 err="1">
                          <a:solidFill>
                            <a:srgbClr val="172033"/>
                          </a:solidFill>
                        </a:rPr>
                        <a:t>Время</a:t>
                      </a:r>
                      <a:r>
                        <a:rPr lang="en-US" sz="2000" dirty="0">
                          <a:solidFill>
                            <a:srgbClr val="172033"/>
                          </a:solidFill>
                        </a:rPr>
                        <a:t> </a:t>
                      </a: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построения индекса (без сжатия)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72033"/>
                          </a:solidFill>
                        </a:rPr>
                        <a:t>22</a:t>
                      </a: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9,5</a:t>
                      </a:r>
                      <a:r>
                        <a:rPr lang="en-US" sz="2000" dirty="0">
                          <a:solidFill>
                            <a:srgbClr val="172033"/>
                          </a:solidFill>
                        </a:rPr>
                        <a:t> сек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Время построения Гамма-индекса (сжатие)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10,6 сек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rgbClr val="172033"/>
                          </a:solidFill>
                        </a:rPr>
                        <a:t>Время построения Дельта-индекса (сжатие)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2000" dirty="0"/>
                        <a:t>15,3 сек</a:t>
                      </a:r>
                      <a:endParaRPr lang="en-US" sz="2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4779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41CDCF-C08D-B763-350E-261E58F0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F27498-DBC1-2527-73E9-061E8E37CF5C}"/>
              </a:ext>
            </a:extLst>
          </p:cNvPr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Скорость поиска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C217C7-FCFA-6B90-E4D0-44BF5C384CCD}"/>
              </a:ext>
            </a:extLst>
          </p:cNvPr>
          <p:cNvSpPr/>
          <p:nvPr/>
        </p:nvSpPr>
        <p:spPr>
          <a:xfrm>
            <a:off x="3992880" y="3886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</a:rPr>
              <a:t>Среднее время одного запроса считалось по 1000 повторам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F27FA47-CFF7-943F-6BCD-4F2C0AF47B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9D56D0-03C0-0509-4A48-7B0165CAF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0" y="1091037"/>
            <a:ext cx="6032500" cy="1181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56FF34-B4F1-E6DE-D648-37A0971B8229}"/>
              </a:ext>
            </a:extLst>
          </p:cNvPr>
          <p:cNvSpPr txBox="1"/>
          <p:nvPr/>
        </p:nvSpPr>
        <p:spPr>
          <a:xfrm>
            <a:off x="2466975" y="754380"/>
            <a:ext cx="7258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dirty="0">
                <a:solidFill>
                  <a:srgbClr val="002060"/>
                </a:solidFill>
              </a:rPr>
              <a:t>«</a:t>
            </a:r>
            <a:r>
              <a:rPr lang="en-US" sz="1800" b="1" dirty="0">
                <a:solidFill>
                  <a:srgbClr val="002060"/>
                </a:solidFill>
              </a:rPr>
              <a:t>Accuracy</a:t>
            </a:r>
            <a:r>
              <a:rPr lang="ru-RU" sz="1800" b="1" dirty="0">
                <a:solidFill>
                  <a:srgbClr val="002060"/>
                </a:solidFill>
              </a:rPr>
              <a:t>»</a:t>
            </a:r>
            <a:endParaRPr lang="en-US" sz="1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5E5768-ACFB-E147-F628-3362A4F3772A}"/>
              </a:ext>
            </a:extLst>
          </p:cNvPr>
          <p:cNvSpPr txBox="1"/>
          <p:nvPr/>
        </p:nvSpPr>
        <p:spPr>
          <a:xfrm>
            <a:off x="2454275" y="4224151"/>
            <a:ext cx="7258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dirty="0">
                <a:solidFill>
                  <a:srgbClr val="002060"/>
                </a:solidFill>
              </a:rPr>
              <a:t>«Обработка естественного языка»</a:t>
            </a:r>
            <a:endParaRPr lang="en-US" sz="1800" b="1" dirty="0">
              <a:solidFill>
                <a:srgbClr val="002060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C11E18E-45A6-65C6-7069-58D458C04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750" y="4593483"/>
            <a:ext cx="6007100" cy="11176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3F8D9BA-15E8-45E0-FC63-421E3FDAC5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3997"/>
          <a:stretch>
            <a:fillRect/>
          </a:stretch>
        </p:blipFill>
        <p:spPr>
          <a:xfrm>
            <a:off x="410010" y="5760034"/>
            <a:ext cx="8676840" cy="3435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15938D-8EE8-66F4-53C3-736FA666A2C6}"/>
              </a:ext>
            </a:extLst>
          </p:cNvPr>
          <p:cNvSpPr txBox="1"/>
          <p:nvPr/>
        </p:nvSpPr>
        <p:spPr>
          <a:xfrm>
            <a:off x="2479675" y="2286607"/>
            <a:ext cx="7258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dirty="0">
                <a:solidFill>
                  <a:srgbClr val="002060"/>
                </a:solidFill>
              </a:rPr>
              <a:t>«</a:t>
            </a:r>
            <a:r>
              <a:rPr lang="en-US" sz="1800" b="1" dirty="0" err="1">
                <a:solidFill>
                  <a:srgbClr val="002060"/>
                </a:solidFill>
              </a:rPr>
              <a:t>М</a:t>
            </a:r>
            <a:r>
              <a:rPr lang="ru-RU" sz="1800" b="1" dirty="0" err="1">
                <a:solidFill>
                  <a:srgbClr val="002060"/>
                </a:solidFill>
              </a:rPr>
              <a:t>ашинное</a:t>
            </a:r>
            <a:r>
              <a:rPr lang="ru-RU" sz="1800" b="1" dirty="0">
                <a:solidFill>
                  <a:srgbClr val="002060"/>
                </a:solidFill>
              </a:rPr>
              <a:t> обучение»</a:t>
            </a:r>
            <a:endParaRPr lang="en-US" sz="1800" b="1" dirty="0">
              <a:solidFill>
                <a:srgbClr val="002060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796E3E0-3886-5866-9889-200A5230EF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9750" y="2653455"/>
            <a:ext cx="6032500" cy="11303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8037006-D53C-29C5-F5F9-A40D1557B20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4519"/>
          <a:stretch>
            <a:fillRect/>
          </a:stretch>
        </p:blipFill>
        <p:spPr>
          <a:xfrm>
            <a:off x="410010" y="3807017"/>
            <a:ext cx="8702240" cy="30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143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BCCE65-0305-FCA5-D0EE-D0AACD9B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2B99C6-37A6-B897-F0B2-43697801C9E5}"/>
              </a:ext>
            </a:extLst>
          </p:cNvPr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Скорость поиска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3A9976-FDD0-6701-A6C8-0758B3263973}"/>
              </a:ext>
            </a:extLst>
          </p:cNvPr>
          <p:cNvSpPr/>
          <p:nvPr/>
        </p:nvSpPr>
        <p:spPr>
          <a:xfrm>
            <a:off x="3992880" y="3886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</a:rPr>
              <a:t>Среднее время одного запроса считалось по 1000 повторам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5112226-7B39-4C3E-401E-17B6BAD7BA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4183B6-B17E-5679-B148-DFDEFE639FF5}"/>
              </a:ext>
            </a:extLst>
          </p:cNvPr>
          <p:cNvSpPr txBox="1"/>
          <p:nvPr/>
        </p:nvSpPr>
        <p:spPr>
          <a:xfrm>
            <a:off x="2360295" y="2568495"/>
            <a:ext cx="7258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dirty="0">
                <a:solidFill>
                  <a:srgbClr val="002060"/>
                </a:solidFill>
              </a:rPr>
              <a:t>«Помидоры»</a:t>
            </a:r>
            <a:endParaRPr lang="en-US" sz="1800" b="1" dirty="0">
              <a:solidFill>
                <a:srgbClr val="00206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8685AE-A089-E215-C264-14251907DB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542"/>
          <a:stretch>
            <a:fillRect/>
          </a:stretch>
        </p:blipFill>
        <p:spPr>
          <a:xfrm>
            <a:off x="2686593" y="2924333"/>
            <a:ext cx="6605454" cy="125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0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Тестирование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21664" y="685800"/>
            <a:ext cx="10789920" cy="5852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r>
              <a:rPr lang="ru-RU" sz="1600" dirty="0">
                <a:solidFill>
                  <a:srgbClr val="172033"/>
                </a:solidFill>
              </a:rPr>
              <a:t>Тесты проверяют:</a:t>
            </a:r>
            <a:endParaRPr lang="en-US" sz="1600" dirty="0">
              <a:solidFill>
                <a:srgbClr val="172033"/>
              </a:solidFill>
            </a:endParaRPr>
          </a:p>
          <a:p>
            <a:endParaRPr lang="ru-RU" sz="1600" dirty="0">
              <a:solidFill>
                <a:srgbClr val="172033"/>
              </a:solidFill>
            </a:endParaRPr>
          </a:p>
          <a:p>
            <a:r>
              <a:rPr lang="ru-RU" sz="1600" dirty="0">
                <a:solidFill>
                  <a:srgbClr val="172033"/>
                </a:solidFill>
              </a:rPr>
              <a:t>1. Сжатие </a:t>
            </a:r>
            <a:r>
              <a:rPr lang="en" sz="1600" dirty="0">
                <a:solidFill>
                  <a:srgbClr val="172033"/>
                </a:solidFill>
              </a:rPr>
              <a:t>postings lists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172033"/>
                </a:solidFill>
              </a:rPr>
              <a:t>Gap Encoding;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172033"/>
                </a:solidFill>
              </a:rPr>
              <a:t>Elias Gamma;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172033"/>
                </a:solidFill>
              </a:rPr>
              <a:t>Elias Delta;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восстановление исходного списка после сжатия.</a:t>
            </a:r>
            <a:endParaRPr lang="en-US" sz="1600" dirty="0">
              <a:solidFill>
                <a:srgbClr val="172033"/>
              </a:solidFill>
            </a:endParaRPr>
          </a:p>
          <a:p>
            <a:endParaRPr lang="ru-RU" sz="1600" dirty="0">
              <a:solidFill>
                <a:srgbClr val="172033"/>
              </a:solidFill>
            </a:endParaRPr>
          </a:p>
          <a:p>
            <a:r>
              <a:rPr lang="ru-RU" sz="1600" dirty="0">
                <a:solidFill>
                  <a:srgbClr val="172033"/>
                </a:solidFill>
              </a:rPr>
              <a:t>2. Построение индекса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правильные </a:t>
            </a:r>
            <a:r>
              <a:rPr lang="en" sz="1600" dirty="0" err="1">
                <a:solidFill>
                  <a:srgbClr val="172033"/>
                </a:solidFill>
              </a:rPr>
              <a:t>doc_id</a:t>
            </a:r>
            <a:r>
              <a:rPr lang="en" sz="1600" dirty="0">
                <a:solidFill>
                  <a:srgbClr val="172033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учет </a:t>
            </a:r>
            <a:r>
              <a:rPr lang="en" sz="1600" dirty="0">
                <a:solidFill>
                  <a:srgbClr val="172033"/>
                </a:solidFill>
              </a:rPr>
              <a:t>title </a:t>
            </a:r>
            <a:r>
              <a:rPr lang="ru-RU" sz="1600" dirty="0">
                <a:solidFill>
                  <a:srgbClr val="172033"/>
                </a:solidFill>
              </a:rPr>
              <a:t>и </a:t>
            </a:r>
            <a:r>
              <a:rPr lang="en" sz="1600" dirty="0" err="1">
                <a:solidFill>
                  <a:srgbClr val="172033"/>
                </a:solidFill>
              </a:rPr>
              <a:t>text_content</a:t>
            </a:r>
            <a:r>
              <a:rPr lang="en" sz="1600" dirty="0">
                <a:solidFill>
                  <a:srgbClr val="172033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172033"/>
                </a:solidFill>
              </a:rPr>
              <a:t>postings lists </a:t>
            </a:r>
            <a:r>
              <a:rPr lang="ru-RU" sz="1600" dirty="0">
                <a:solidFill>
                  <a:srgbClr val="172033"/>
                </a:solidFill>
              </a:rPr>
              <a:t>без дублей;</a:t>
            </a:r>
          </a:p>
          <a:p>
            <a:r>
              <a:rPr lang="ru-RU" sz="1600" dirty="0">
                <a:solidFill>
                  <a:srgbClr val="172033"/>
                </a:solidFill>
              </a:rPr>
              <a:t>позиционный индекс с позициями слов.</a:t>
            </a:r>
            <a:endParaRPr lang="en-US" sz="1600" dirty="0">
              <a:solidFill>
                <a:srgbClr val="172033"/>
              </a:solidFill>
            </a:endParaRPr>
          </a:p>
          <a:p>
            <a:endParaRPr lang="ru-RU" sz="1600" dirty="0">
              <a:solidFill>
                <a:srgbClr val="172033"/>
              </a:solidFill>
            </a:endParaRPr>
          </a:p>
          <a:p>
            <a:r>
              <a:rPr lang="ru-RU" sz="1600" dirty="0">
                <a:solidFill>
                  <a:srgbClr val="172033"/>
                </a:solidFill>
              </a:rPr>
              <a:t>3. Поиск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обычный </a:t>
            </a:r>
            <a:r>
              <a:rPr lang="en" sz="1600" dirty="0">
                <a:solidFill>
                  <a:srgbClr val="172033"/>
                </a:solidFill>
              </a:rPr>
              <a:t>AND-</a:t>
            </a:r>
            <a:r>
              <a:rPr lang="ru-RU" sz="1600" dirty="0">
                <a:solidFill>
                  <a:srgbClr val="172033"/>
                </a:solidFill>
              </a:rPr>
              <a:t>поиск;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поиск по сжатым индексам;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совпадение результатов обычного и сжатого поиска;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фразовый поиск, где слова должны идти подряд.</a:t>
            </a:r>
            <a:endParaRPr lang="en-US" sz="1600" dirty="0">
              <a:solidFill>
                <a:srgbClr val="172033"/>
              </a:solidFill>
            </a:endParaRPr>
          </a:p>
          <a:p>
            <a:endParaRPr lang="ru-RU" sz="1600" dirty="0">
              <a:solidFill>
                <a:srgbClr val="172033"/>
              </a:solidFill>
            </a:endParaRPr>
          </a:p>
          <a:p>
            <a:r>
              <a:rPr lang="ru-RU" sz="1600" dirty="0">
                <a:solidFill>
                  <a:srgbClr val="172033"/>
                </a:solidFill>
              </a:rPr>
              <a:t>4. </a:t>
            </a:r>
            <a:r>
              <a:rPr lang="en" sz="1600" dirty="0">
                <a:solidFill>
                  <a:srgbClr val="172033"/>
                </a:solidFill>
              </a:rPr>
              <a:t>Benchmark-</a:t>
            </a:r>
            <a:r>
              <a:rPr lang="ru-RU" sz="1600" dirty="0">
                <a:solidFill>
                  <a:srgbClr val="172033"/>
                </a:solidFill>
              </a:rPr>
              <a:t>функции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возвращают таблицу статистики;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считают среднее время;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</a:rPr>
              <a:t>не ломают результаты поиска.</a:t>
            </a:r>
            <a:endParaRPr lang="en" sz="1600" dirty="0">
              <a:solidFill>
                <a:srgbClr val="172033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DD0162-9B49-7136-D9D7-C06DEFEB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6D6F04-322F-FB8F-A0D2-F3ADE092298C}"/>
              </a:ext>
            </a:extLst>
          </p:cNvPr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Тестирование</a:t>
            </a:r>
            <a:endParaRPr lang="en-US" sz="4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64EFC6E-68A9-F5A7-8C85-55DC8349C3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C8547C0-66D8-BBE2-C24D-DCCF8B213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748350"/>
              </p:ext>
            </p:extLst>
          </p:nvPr>
        </p:nvGraphicFramePr>
        <p:xfrm>
          <a:off x="1025248" y="1909420"/>
          <a:ext cx="9928144" cy="4156100"/>
        </p:xfrm>
        <a:graphic>
          <a:graphicData uri="http://schemas.openxmlformats.org/drawingml/2006/table">
            <a:tbl>
              <a:tblPr/>
              <a:tblGrid>
                <a:gridCol w="299930">
                  <a:extLst>
                    <a:ext uri="{9D8B030D-6E8A-4147-A177-3AD203B41FA5}">
                      <a16:colId xmlns:a16="http://schemas.microsoft.com/office/drawing/2014/main" val="1509212821"/>
                    </a:ext>
                  </a:extLst>
                </a:gridCol>
                <a:gridCol w="3727700">
                  <a:extLst>
                    <a:ext uri="{9D8B030D-6E8A-4147-A177-3AD203B41FA5}">
                      <a16:colId xmlns:a16="http://schemas.microsoft.com/office/drawing/2014/main" val="3115772974"/>
                    </a:ext>
                  </a:extLst>
                </a:gridCol>
                <a:gridCol w="4810450">
                  <a:extLst>
                    <a:ext uri="{9D8B030D-6E8A-4147-A177-3AD203B41FA5}">
                      <a16:colId xmlns:a16="http://schemas.microsoft.com/office/drawing/2014/main" val="2839745353"/>
                    </a:ext>
                  </a:extLst>
                </a:gridCol>
                <a:gridCol w="1090064">
                  <a:extLst>
                    <a:ext uri="{9D8B030D-6E8A-4147-A177-3AD203B41FA5}">
                      <a16:colId xmlns:a16="http://schemas.microsoft.com/office/drawing/2014/main" val="3994241159"/>
                    </a:ext>
                  </a:extLst>
                </a:gridCol>
              </a:tblGrid>
              <a:tr h="71583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№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Тест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Краткое описание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Статус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045566"/>
                  </a:ext>
                </a:extLst>
              </a:tr>
              <a:tr h="255652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1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Проверка </a:t>
                      </a:r>
                      <a:r>
                        <a:rPr lang="en" sz="1400"/>
                        <a:t>gap-</a:t>
                      </a:r>
                      <a:r>
                        <a:rPr lang="ru-RU" sz="1400"/>
                        <a:t>кодирования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 корректное преобразование списка </a:t>
                      </a:r>
                      <a:r>
                        <a:rPr lang="en" sz="1400"/>
                        <a:t>document ID </a:t>
                      </a:r>
                      <a:r>
                        <a:rPr lang="ru-RU" sz="1400"/>
                        <a:t>в список разностей.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072088"/>
                  </a:ext>
                </a:extLst>
              </a:tr>
              <a:tr h="317009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2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Обратимость </a:t>
                      </a:r>
                      <a:r>
                        <a:rPr lang="en" sz="1400" dirty="0"/>
                        <a:t>gap-</a:t>
                      </a:r>
                      <a:r>
                        <a:rPr lang="ru-RU" sz="1400" dirty="0"/>
                        <a:t>кодирования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Проверяется, что после </a:t>
                      </a:r>
                      <a:r>
                        <a:rPr lang="en" sz="1400" dirty="0" err="1"/>
                        <a:t>gap_encode</a:t>
                      </a:r>
                      <a:r>
                        <a:rPr lang="en" sz="1400" dirty="0"/>
                        <a:t> </a:t>
                      </a:r>
                      <a:r>
                        <a:rPr lang="ru-RU" sz="1400" dirty="0"/>
                        <a:t>и </a:t>
                      </a:r>
                      <a:r>
                        <a:rPr lang="en" sz="1400" dirty="0" err="1"/>
                        <a:t>gap_decode</a:t>
                      </a:r>
                      <a:r>
                        <a:rPr lang="en" sz="1400" dirty="0"/>
                        <a:t> </a:t>
                      </a:r>
                      <a:r>
                        <a:rPr lang="ru-RU" sz="1400" dirty="0"/>
                        <a:t>исходный список восстанавливается без потерь.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717273"/>
                  </a:ext>
                </a:extLst>
              </a:tr>
              <a:tr h="347687">
                <a:tc>
                  <a:txBody>
                    <a:bodyPr/>
                    <a:lstStyle/>
                    <a:p>
                      <a:pPr algn="l"/>
                      <a:r>
                        <a:rPr lang="ru-RU" sz="1400"/>
                        <a:t>3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Обратимость </a:t>
                      </a:r>
                      <a:r>
                        <a:rPr lang="en" sz="1400"/>
                        <a:t>Elias Gamma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 корректность кодирования и декодирования чисел методом </a:t>
                      </a:r>
                      <a:r>
                        <a:rPr lang="en" sz="1400"/>
                        <a:t>Elias Gamma.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869331"/>
                  </a:ext>
                </a:extLst>
              </a:tr>
              <a:tr h="317009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4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Обратимость </a:t>
                      </a:r>
                      <a:r>
                        <a:rPr lang="en" sz="1400"/>
                        <a:t>Elias Delta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 корректность кодирования и декодирования чисел методом </a:t>
                      </a:r>
                      <a:r>
                        <a:rPr lang="en" sz="1400"/>
                        <a:t>Elias Delta.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470251"/>
                  </a:ext>
                </a:extLst>
              </a:tr>
              <a:tr h="255652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5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Обработка некорректных чисел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кодирование не принимает ноль и отрицательные числа.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76591"/>
                  </a:ext>
                </a:extLst>
              </a:tr>
              <a:tr h="286331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6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Сжатие и восстановление </a:t>
                      </a:r>
                      <a:r>
                        <a:rPr lang="en" sz="1400"/>
                        <a:t>posting lists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сжатые </a:t>
                      </a:r>
                      <a:r>
                        <a:rPr lang="en" sz="1400"/>
                        <a:t>posting lists </a:t>
                      </a:r>
                      <a:r>
                        <a:rPr lang="ru-RU" sz="1400"/>
                        <a:t>после декодирования совпадают с исходными.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865069"/>
                  </a:ext>
                </a:extLst>
              </a:tr>
              <a:tr h="286331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7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Построение соответствия </a:t>
                      </a:r>
                      <a:r>
                        <a:rPr lang="en" sz="1400"/>
                        <a:t>document ID </a:t>
                      </a:r>
                      <a:r>
                        <a:rPr lang="ru-RU" sz="1400"/>
                        <a:t>и </a:t>
                      </a:r>
                      <a:r>
                        <a:rPr lang="en" sz="1400"/>
                        <a:t>page ID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 корректное создание словарей </a:t>
                      </a:r>
                      <a:r>
                        <a:rPr lang="en" sz="1400"/>
                        <a:t>page_id → doc_id </a:t>
                      </a:r>
                      <a:r>
                        <a:rPr lang="ru-RU" sz="1400"/>
                        <a:t>и </a:t>
                      </a:r>
                      <a:r>
                        <a:rPr lang="en" sz="1400"/>
                        <a:t>doc_id → page_id.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15439"/>
                  </a:ext>
                </a:extLst>
              </a:tr>
              <a:tr h="224974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8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Построение инвертированного индекса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индекс строится по заголовку и тексту документа.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279240"/>
                  </a:ext>
                </a:extLst>
              </a:tr>
              <a:tr h="286331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9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Уникальность и сортировка </a:t>
                      </a:r>
                      <a:r>
                        <a:rPr lang="en" sz="1400" dirty="0"/>
                        <a:t>posting lists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списки документов в индексе отсортированы и не содержат дублей.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0119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4E9216-599F-4B7A-420C-210582F7DDD2}"/>
              </a:ext>
            </a:extLst>
          </p:cNvPr>
          <p:cNvSpPr txBox="1"/>
          <p:nvPr/>
        </p:nvSpPr>
        <p:spPr>
          <a:xfrm>
            <a:off x="3760470" y="1339905"/>
            <a:ext cx="44577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172033"/>
                </a:solidFill>
              </a:rPr>
              <a:t>Покрытие тестами – 75</a:t>
            </a:r>
            <a:r>
              <a:rPr lang="en-US" sz="1800" dirty="0">
                <a:solidFill>
                  <a:srgbClr val="172033"/>
                </a:solidFill>
              </a:rPr>
              <a:t>% </a:t>
            </a:r>
            <a:r>
              <a:rPr lang="ru-RU" sz="1800" dirty="0">
                <a:solidFill>
                  <a:srgbClr val="172033"/>
                </a:solidFill>
              </a:rPr>
              <a:t>функционала</a:t>
            </a:r>
            <a:endParaRPr lang="en" sz="1800" dirty="0">
              <a:solidFill>
                <a:srgbClr val="17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702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1B9F02-E00B-B83B-B290-57882C286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4B9289-F704-4B26-734B-AC6275E8ECA3}"/>
              </a:ext>
            </a:extLst>
          </p:cNvPr>
          <p:cNvSpPr/>
          <p:nvPr/>
        </p:nvSpPr>
        <p:spPr>
          <a:xfrm>
            <a:off x="59436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0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Тестирование</a:t>
            </a:r>
            <a:endParaRPr lang="en-US" sz="4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D08DA0D-0D26-8399-B5BB-258F73FE8B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18D6609-7303-9118-DFA9-CD620DFEE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867992"/>
              </p:ext>
            </p:extLst>
          </p:nvPr>
        </p:nvGraphicFramePr>
        <p:xfrm>
          <a:off x="1045464" y="1097280"/>
          <a:ext cx="9887711" cy="5150438"/>
        </p:xfrm>
        <a:graphic>
          <a:graphicData uri="http://schemas.openxmlformats.org/drawingml/2006/table">
            <a:tbl>
              <a:tblPr/>
              <a:tblGrid>
                <a:gridCol w="298708">
                  <a:extLst>
                    <a:ext uri="{9D8B030D-6E8A-4147-A177-3AD203B41FA5}">
                      <a16:colId xmlns:a16="http://schemas.microsoft.com/office/drawing/2014/main" val="618483210"/>
                    </a:ext>
                  </a:extLst>
                </a:gridCol>
                <a:gridCol w="3712519">
                  <a:extLst>
                    <a:ext uri="{9D8B030D-6E8A-4147-A177-3AD203B41FA5}">
                      <a16:colId xmlns:a16="http://schemas.microsoft.com/office/drawing/2014/main" val="647384917"/>
                    </a:ext>
                  </a:extLst>
                </a:gridCol>
                <a:gridCol w="4815781">
                  <a:extLst>
                    <a:ext uri="{9D8B030D-6E8A-4147-A177-3AD203B41FA5}">
                      <a16:colId xmlns:a16="http://schemas.microsoft.com/office/drawing/2014/main" val="967285428"/>
                    </a:ext>
                  </a:extLst>
                </a:gridCol>
                <a:gridCol w="1060703">
                  <a:extLst>
                    <a:ext uri="{9D8B030D-6E8A-4147-A177-3AD203B41FA5}">
                      <a16:colId xmlns:a16="http://schemas.microsoft.com/office/drawing/2014/main" val="4207484034"/>
                    </a:ext>
                  </a:extLst>
                </a:gridCol>
              </a:tblGrid>
              <a:tr h="672219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10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Проверка размеров сжатых индексов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размеры обычного, </a:t>
                      </a:r>
                      <a:r>
                        <a:rPr lang="en" sz="1400"/>
                        <a:t>Gamma- </a:t>
                      </a:r>
                      <a:r>
                        <a:rPr lang="ru-RU" sz="1400"/>
                        <a:t>и </a:t>
                      </a:r>
                      <a:r>
                        <a:rPr lang="en" sz="1400"/>
                        <a:t>Delta-</a:t>
                      </a:r>
                      <a:r>
                        <a:rPr lang="ru-RU" sz="1400"/>
                        <a:t>сжатого индекса корректно считаются.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884670"/>
                  </a:ext>
                </a:extLst>
              </a:tr>
              <a:tr h="506154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11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Построение сжатых индексов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 создание индексов с </a:t>
                      </a:r>
                      <a:r>
                        <a:rPr lang="en" sz="1400"/>
                        <a:t>Elias Gamma </a:t>
                      </a:r>
                      <a:r>
                        <a:rPr lang="ru-RU" sz="1400"/>
                        <a:t>и </a:t>
                      </a:r>
                      <a:r>
                        <a:rPr lang="en" sz="1400"/>
                        <a:t>Elias Delta </a:t>
                      </a:r>
                      <a:r>
                        <a:rPr lang="ru-RU" sz="1400"/>
                        <a:t>без потери терминов.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837760"/>
                  </a:ext>
                </a:extLst>
              </a:tr>
              <a:tr h="506154">
                <a:tc>
                  <a:txBody>
                    <a:bodyPr/>
                    <a:lstStyle/>
                    <a:p>
                      <a:pPr algn="l"/>
                      <a:r>
                        <a:rPr lang="ru-RU" sz="1400"/>
                        <a:t>12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Обычный поиск по </a:t>
                      </a:r>
                      <a:r>
                        <a:rPr lang="en" sz="1400" dirty="0"/>
                        <a:t>AND-</a:t>
                      </a:r>
                      <a:r>
                        <a:rPr lang="ru-RU" sz="1400" dirty="0"/>
                        <a:t>семантике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поиск возвращает документы, содержащие все слова запроса.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742091"/>
                  </a:ext>
                </a:extLst>
              </a:tr>
              <a:tr h="506154">
                <a:tc>
                  <a:txBody>
                    <a:bodyPr/>
                    <a:lstStyle/>
                    <a:p>
                      <a:pPr algn="l"/>
                      <a:r>
                        <a:rPr lang="ru-RU" sz="1400"/>
                        <a:t>13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Проверка фразового поиска по позициям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слова фразы должны идти рядом и в правильном порядке.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237038"/>
                  </a:ext>
                </a:extLst>
              </a:tr>
              <a:tr h="340089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14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Фразовый поиск по позиционному индексу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 поиск точной фразы, например </a:t>
                      </a:r>
                      <a:r>
                        <a:rPr lang="en" sz="1400"/>
                        <a:t>machine learning.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613350"/>
                  </a:ext>
                </a:extLst>
              </a:tr>
              <a:tr h="672219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15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Сравнение обычного и сжатого поиска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поиск по </a:t>
                      </a:r>
                      <a:r>
                        <a:rPr lang="en" sz="1400"/>
                        <a:t>Gamma/Delta-</a:t>
                      </a:r>
                      <a:r>
                        <a:rPr lang="ru-RU" sz="1400"/>
                        <a:t>сжатым индексам даёт те же результаты, что и обычный индекс.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634916"/>
                  </a:ext>
                </a:extLst>
              </a:tr>
              <a:tr h="672219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16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400" dirty="0"/>
                        <a:t>Benchmark </a:t>
                      </a:r>
                      <a:r>
                        <a:rPr lang="ru-RU" sz="1400" dirty="0"/>
                        <a:t>обычного поиска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бенчмарк возвращает статистику для обычного, </a:t>
                      </a:r>
                      <a:r>
                        <a:rPr lang="en" sz="1400"/>
                        <a:t>Gamma </a:t>
                      </a:r>
                      <a:r>
                        <a:rPr lang="ru-RU" sz="1400"/>
                        <a:t>и </a:t>
                      </a:r>
                      <a:r>
                        <a:rPr lang="en" sz="1400"/>
                        <a:t>Delta </a:t>
                      </a:r>
                      <a:r>
                        <a:rPr lang="ru-RU" sz="1400"/>
                        <a:t>индексов.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95846"/>
                  </a:ext>
                </a:extLst>
              </a:tr>
              <a:tr h="506154">
                <a:tc>
                  <a:txBody>
                    <a:bodyPr/>
                    <a:lstStyle/>
                    <a:p>
                      <a:pPr algn="l"/>
                      <a:r>
                        <a:rPr lang="ru-RU" sz="1400"/>
                        <a:t>17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400"/>
                        <a:t>Benchmark </a:t>
                      </a:r>
                      <a:r>
                        <a:rPr lang="ru-RU" sz="1400"/>
                        <a:t>фразового поиска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Проверяется, что бенчмарк фразового поиска возвращает результат и время выполнения.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736044"/>
                  </a:ext>
                </a:extLst>
              </a:tr>
              <a:tr h="672219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18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Отображение результатов поиска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Проверяется преобразование внутренних </a:t>
                      </a:r>
                      <a:r>
                        <a:rPr lang="en" sz="1400" dirty="0" err="1"/>
                        <a:t>doc_id</a:t>
                      </a:r>
                      <a:r>
                        <a:rPr lang="en" sz="1400" dirty="0"/>
                        <a:t> </a:t>
                      </a:r>
                      <a:r>
                        <a:rPr lang="ru-RU" sz="1400" dirty="0"/>
                        <a:t>обратно в </a:t>
                      </a:r>
                      <a:r>
                        <a:rPr lang="en" sz="1400" dirty="0" err="1"/>
                        <a:t>page_id</a:t>
                      </a:r>
                      <a:r>
                        <a:rPr lang="en" sz="1400" dirty="0"/>
                        <a:t> </a:t>
                      </a:r>
                      <a:r>
                        <a:rPr lang="ru-RU" sz="1400" dirty="0"/>
                        <a:t>для вывода пользователю.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400" dirty="0"/>
                        <a:t>PASSED</a:t>
                      </a:r>
                    </a:p>
                  </a:txBody>
                  <a:tcPr marL="10226" marR="10226" marT="5113" marB="51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658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015385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Атлас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тлас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8597</TotalTime>
  <Words>880</Words>
  <Application>Microsoft Macintosh PowerPoint</Application>
  <PresentationFormat>Широкоэкранный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 Light</vt:lpstr>
      <vt:lpstr>Rockwell</vt:lpstr>
      <vt:lpstr>Wingdings</vt:lpstr>
      <vt:lpstr>Атлас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Инвертированный индекс с кодированием Элиаса</dc:title>
  <dc:subject>Инвертированный индекс</dc:subject>
  <dc:creator>OpenAI</dc:creator>
  <cp:lastModifiedBy>Даниил Кудряшов</cp:lastModifiedBy>
  <cp:revision>41</cp:revision>
  <dcterms:created xsi:type="dcterms:W3CDTF">2026-05-17T22:25:56Z</dcterms:created>
  <dcterms:modified xsi:type="dcterms:W3CDTF">2026-05-24T22:33:37Z</dcterms:modified>
</cp:coreProperties>
</file>